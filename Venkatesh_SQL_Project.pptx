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55" r:id="rId1"/>
  </p:sldMasterIdLst>
  <p:notesMasterIdLst>
    <p:notesMasterId r:id="rId19"/>
  </p:notesMasterIdLst>
  <p:sldIdLst>
    <p:sldId id="256" r:id="rId2"/>
    <p:sldId id="257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72" r:id="rId12"/>
    <p:sldId id="271" r:id="rId13"/>
    <p:sldId id="270" r:id="rId14"/>
    <p:sldId id="268" r:id="rId15"/>
    <p:sldId id="269" r:id="rId16"/>
    <p:sldId id="273" r:id="rId17"/>
    <p:sldId id="259" r:id="rId18"/>
  </p:sldIdLst>
  <p:sldSz cx="12192000" cy="6858000"/>
  <p:notesSz cx="6858000" cy="9144000"/>
  <p:embeddedFontLst>
    <p:embeddedFont>
      <p:font typeface="Algerian" panose="04020705040A02060702" pitchFamily="82" charset="0"/>
      <p:regular r:id="rId20"/>
    </p:embeddedFont>
    <p:embeddedFont>
      <p:font typeface="Libre Baskerville" panose="02000000000000000000" pitchFamily="2" charset="0"/>
      <p:regular r:id="rId21"/>
      <p:bold r:id="rId22"/>
      <p:italic r:id="rId23"/>
    </p:embeddedFont>
    <p:embeddedFont>
      <p:font typeface="Neue Haas Grotesk Text Pro" panose="020B050402020202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8F18"/>
    <a:srgbClr val="16424D"/>
    <a:srgbClr val="217368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95E75-0553-251A-7906-19449E4D5010}" v="12" dt="2025-11-20T08:33:12.4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 karnure" userId="841a249091f59a76" providerId="Windows Live" clId="Web-{BA295E75-0553-251A-7906-19449E4D5010}"/>
    <pc:docChg chg="modSld">
      <pc:chgData name="venkatesh karnure" userId="841a249091f59a76" providerId="Windows Live" clId="Web-{BA295E75-0553-251A-7906-19449E4D5010}" dt="2025-11-20T08:33:12.459" v="5"/>
      <pc:docMkLst>
        <pc:docMk/>
      </pc:docMkLst>
      <pc:sldChg chg="delSp modSp">
        <pc:chgData name="venkatesh karnure" userId="841a249091f59a76" providerId="Windows Live" clId="Web-{BA295E75-0553-251A-7906-19449E4D5010}" dt="2025-11-20T08:33:12.459" v="5"/>
        <pc:sldMkLst>
          <pc:docMk/>
          <pc:sldMk cId="0" sldId="259"/>
        </pc:sldMkLst>
        <pc:spChg chg="del mod">
          <ac:chgData name="venkatesh karnure" userId="841a249091f59a76" providerId="Windows Live" clId="Web-{BA295E75-0553-251A-7906-19449E4D5010}" dt="2025-11-20T08:33:12.459" v="5"/>
          <ac:spMkLst>
            <pc:docMk/>
            <pc:sldMk cId="0" sldId="259"/>
            <ac:spMk id="3" creationId="{C2986CEF-A029-462E-7417-49BF30F1D3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F2D3DF-FCE5-0186-423D-C3B2D5AD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002A457-A549-1C7E-7E64-2D125A189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C6BEA14-C6FE-2525-5714-5FCB6D0E3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455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01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27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7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9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5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9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2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47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3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80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6" r:id="rId1"/>
    <p:sldLayoutId id="2147484057" r:id="rId2"/>
    <p:sldLayoutId id="2147484058" r:id="rId3"/>
    <p:sldLayoutId id="2147484059" r:id="rId4"/>
    <p:sldLayoutId id="2147484060" r:id="rId5"/>
    <p:sldLayoutId id="2147484061" r:id="rId6"/>
    <p:sldLayoutId id="2147484062" r:id="rId7"/>
    <p:sldLayoutId id="2147484063" r:id="rId8"/>
    <p:sldLayoutId id="2147484064" r:id="rId9"/>
    <p:sldLayoutId id="2147484065" r:id="rId10"/>
    <p:sldLayoutId id="214748406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D313428B-B06D-909E-1F0E-6CEB2EE71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213" y="480849"/>
            <a:ext cx="6473154" cy="19324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CCA1EB-A42B-7338-46CB-92AAFC59C672}"/>
              </a:ext>
            </a:extLst>
          </p:cNvPr>
          <p:cNvSpPr txBox="1"/>
          <p:nvPr/>
        </p:nvSpPr>
        <p:spPr>
          <a:xfrm>
            <a:off x="4141595" y="3136612"/>
            <a:ext cx="3908809" cy="58477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ibre Baskerville"/>
              </a:rPr>
              <a:t>PROJECT ON</a:t>
            </a:r>
            <a:endParaRPr lang="en-IN" sz="3200">
              <a:solidFill>
                <a:schemeClr val="bg1"/>
              </a:solidFill>
              <a:latin typeface="Libre Baskervill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8822E-A752-EB2D-BE71-4CF08ADD4E8C}"/>
              </a:ext>
            </a:extLst>
          </p:cNvPr>
          <p:cNvSpPr txBox="1"/>
          <p:nvPr/>
        </p:nvSpPr>
        <p:spPr>
          <a:xfrm>
            <a:off x="1437172" y="4382953"/>
            <a:ext cx="890258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800" b="1">
                <a:solidFill>
                  <a:schemeClr val="bg2"/>
                </a:solidFill>
                <a:latin typeface="Libre Baskerville"/>
              </a:rPr>
              <a:t>"WORLD WIDE ENERGY CONSUMPTION</a:t>
            </a:r>
          </a:p>
          <a:p>
            <a:pPr algn="ctr"/>
            <a:r>
              <a:rPr lang="en-IN" sz="2800" b="1">
                <a:solidFill>
                  <a:schemeClr val="bg2"/>
                </a:solidFill>
                <a:latin typeface="Libre Baskerville"/>
              </a:rPr>
              <a:t>USING SQL"</a:t>
            </a:r>
            <a:endParaRPr lang="en-IN" sz="2800">
              <a:solidFill>
                <a:schemeClr val="bg2"/>
              </a:solidFill>
              <a:latin typeface="Libre Baskervill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A9D75-D734-533B-880B-C4AB20C69057}"/>
              </a:ext>
            </a:extLst>
          </p:cNvPr>
          <p:cNvSpPr txBox="1"/>
          <p:nvPr/>
        </p:nvSpPr>
        <p:spPr>
          <a:xfrm>
            <a:off x="7817617" y="5660072"/>
            <a:ext cx="4119827" cy="3693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2"/>
                </a:solidFill>
                <a:latin typeface="Libre Baskerville"/>
              </a:rPr>
              <a:t>By – Venkatesh V.  </a:t>
            </a:r>
            <a:r>
              <a:rPr lang="en-US" b="1" err="1">
                <a:solidFill>
                  <a:schemeClr val="bg2"/>
                </a:solidFill>
                <a:latin typeface="Libre Baskerville"/>
              </a:rPr>
              <a:t>Karnure</a:t>
            </a:r>
            <a:endParaRPr lang="en-IN" b="1" err="1">
              <a:solidFill>
                <a:schemeClr val="bg2"/>
              </a:solidFill>
              <a:latin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18473-AAE0-36DE-DE98-B756F948E201}"/>
              </a:ext>
            </a:extLst>
          </p:cNvPr>
          <p:cNvSpPr txBox="1"/>
          <p:nvPr/>
        </p:nvSpPr>
        <p:spPr>
          <a:xfrm>
            <a:off x="734790" y="1263897"/>
            <a:ext cx="10720639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ibre Baskerville"/>
              </a:rPr>
              <a:t>  In this project, we used </a:t>
            </a:r>
            <a:r>
              <a:rPr lang="en-US" sz="2400" b="1" dirty="0">
                <a:solidFill>
                  <a:schemeClr val="bg1"/>
                </a:solidFill>
                <a:latin typeface="Libre Baskerville"/>
              </a:rPr>
              <a:t>Structured Query  Language (SQL)</a:t>
            </a:r>
            <a:r>
              <a:rPr lang="en-US" sz="2400" dirty="0">
                <a:solidFill>
                  <a:schemeClr val="bg1"/>
                </a:solidFill>
                <a:latin typeface="Libre Baskerville"/>
              </a:rPr>
              <a:t> to analyze a comprehensive dataset containing information on:</a:t>
            </a:r>
          </a:p>
          <a:p>
            <a:endParaRPr lang="en-US" sz="2400" dirty="0">
              <a:solidFill>
                <a:schemeClr val="bg1"/>
              </a:solidFill>
              <a:latin typeface="Libre Baskervill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Energy production and consumption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Gross Domestic Product (GDP)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Carbon emissions and population statistics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Libre Baskerville"/>
            </a:endParaRPr>
          </a:p>
          <a:p>
            <a:r>
              <a:rPr lang="en-US" sz="2400" dirty="0">
                <a:solidFill>
                  <a:schemeClr val="bg1"/>
                </a:solidFill>
                <a:latin typeface="Libre Baskerville"/>
              </a:rPr>
              <a:t> By writing and executing SQL queries, we extracted meaningful insights related to:</a:t>
            </a:r>
          </a:p>
          <a:p>
            <a:endParaRPr lang="en-US" sz="2400" dirty="0">
              <a:solidFill>
                <a:schemeClr val="bg1"/>
              </a:solidFill>
              <a:latin typeface="Libre Baskervill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Country wise energy trends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Emission patterns over 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Libre Baskerville"/>
              </a:rPr>
              <a:t>Economic and environmental performance comparisons</a:t>
            </a:r>
            <a:r>
              <a:rPr lang="en-IN" sz="2400" dirty="0">
                <a:solidFill>
                  <a:schemeClr val="bg1"/>
                </a:solidFill>
                <a:latin typeface="Libre Baskerville"/>
              </a:rPr>
              <a:t>.</a:t>
            </a:r>
            <a:endParaRPr lang="en-US" sz="2400" dirty="0">
              <a:solidFill>
                <a:schemeClr val="bg1"/>
              </a:solidFill>
              <a:latin typeface="Libre Baskervil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C2D3D-C51F-0CF6-2840-65F76F295A47}"/>
              </a:ext>
            </a:extLst>
          </p:cNvPr>
          <p:cNvSpPr txBox="1"/>
          <p:nvPr/>
        </p:nvSpPr>
        <p:spPr>
          <a:xfrm>
            <a:off x="4510035" y="441629"/>
            <a:ext cx="4232550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INTRODUCTION</a:t>
            </a:r>
            <a:endParaRPr lang="en-IN" sz="28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2C0C84-26AC-1470-4A03-0D172DE6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EDE55AB-EAE7-0022-7BCD-F21C7393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0" y="1514873"/>
            <a:ext cx="729510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Ensure data consistency and integrity by implementing primary and foreign keys.</a:t>
            </a:r>
            <a:endParaRPr lang="en-US" altLang="en-US" sz="2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Retrieve, manage, and manipulate datasets efficiently using SQL.</a:t>
            </a:r>
            <a:endParaRPr lang="en-US" altLang="en-US" sz="2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Analyze the relationship between GDP growth and energy/emission trends.</a:t>
            </a:r>
            <a:endParaRPr lang="en-US" altLang="en-US" sz="2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Utilize SQL queries to extract, compute, and visualize meaningful insights from structured datasets</a:t>
            </a:r>
            <a:endParaRPr lang="en-US" altLang="en-US" sz="2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72268-F2A5-683C-E14F-69FCB0A9209F}"/>
              </a:ext>
            </a:extLst>
          </p:cNvPr>
          <p:cNvSpPr txBox="1"/>
          <p:nvPr/>
        </p:nvSpPr>
        <p:spPr>
          <a:xfrm>
            <a:off x="4568651" y="336552"/>
            <a:ext cx="2575728" cy="52322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Libre Baskerville"/>
              </a:rPr>
              <a:t>OBJECTIVE</a:t>
            </a:r>
            <a:endParaRPr lang="en-IN" sz="2800" b="1" dirty="0">
              <a:solidFill>
                <a:srgbClr val="0070C0"/>
              </a:solidFill>
              <a:latin typeface="Libre Baskerville"/>
            </a:endParaRPr>
          </a:p>
        </p:txBody>
      </p:sp>
      <p:pic>
        <p:nvPicPr>
          <p:cNvPr id="1027" name="Picture 3" descr="1-Room to 5-Room Average HDB Electricity Consumption | Home &amp; Decor  Singapore">
            <a:extLst>
              <a:ext uri="{FF2B5EF4-FFF2-40B4-BE49-F238E27FC236}">
                <a16:creationId xmlns:a16="http://schemas.microsoft.com/office/drawing/2014/main" id="{413F6125-A448-B756-0A18-27906169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792" y="1675562"/>
            <a:ext cx="4684208" cy="35068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32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F12403-C165-D390-787D-AA22EF504B0A}"/>
              </a:ext>
            </a:extLst>
          </p:cNvPr>
          <p:cNvSpPr txBox="1"/>
          <p:nvPr/>
        </p:nvSpPr>
        <p:spPr>
          <a:xfrm>
            <a:off x="4030246" y="262004"/>
            <a:ext cx="3002446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 ER - DIAGRAM</a:t>
            </a:r>
            <a:endParaRPr lang="en-IN" sz="24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B0819A33-CA93-2EB5-0A73-4DF3AC74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068387"/>
            <a:ext cx="7734300" cy="5000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C39235-6D93-3292-D856-6A2534EA4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48640"/>
              </p:ext>
            </p:extLst>
          </p:nvPr>
        </p:nvGraphicFramePr>
        <p:xfrm>
          <a:off x="8242300" y="495300"/>
          <a:ext cx="3809841" cy="600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69947">
                  <a:extLst>
                    <a:ext uri="{9D8B030D-6E8A-4147-A177-3AD203B41FA5}">
                      <a16:colId xmlns:a16="http://schemas.microsoft.com/office/drawing/2014/main" val="1510065897"/>
                    </a:ext>
                  </a:extLst>
                </a:gridCol>
                <a:gridCol w="1269947">
                  <a:extLst>
                    <a:ext uri="{9D8B030D-6E8A-4147-A177-3AD203B41FA5}">
                      <a16:colId xmlns:a16="http://schemas.microsoft.com/office/drawing/2014/main" val="3710502514"/>
                    </a:ext>
                  </a:extLst>
                </a:gridCol>
                <a:gridCol w="1269947">
                  <a:extLst>
                    <a:ext uri="{9D8B030D-6E8A-4147-A177-3AD203B41FA5}">
                      <a16:colId xmlns:a16="http://schemas.microsoft.com/office/drawing/2014/main" val="499138862"/>
                    </a:ext>
                  </a:extLst>
                </a:gridCol>
              </a:tblGrid>
              <a:tr h="6816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Table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Primary Key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Foreign Key(s)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665207"/>
                  </a:ext>
                </a:extLst>
              </a:tr>
              <a:tr h="4182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291578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consumption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(country, energy, year)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 → country.c_id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307444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population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(country, year)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 → country.c_id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509865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production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(country, energy, year)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 → country.c_id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445931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emission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(country, energy_type, year)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 → country.c_id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79716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gdp_ppp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(country, year)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country → country.c_id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68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66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378D4-37E6-3E39-65AD-4B58CCE4C724}"/>
              </a:ext>
            </a:extLst>
          </p:cNvPr>
          <p:cNvSpPr txBox="1"/>
          <p:nvPr/>
        </p:nvSpPr>
        <p:spPr>
          <a:xfrm>
            <a:off x="1135462" y="854110"/>
            <a:ext cx="390651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1. COUNTRY TABLE </a:t>
            </a:r>
            <a:endParaRPr lang="en-IN" sz="2200" b="1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A003D-80B0-03BF-633C-583C15663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8" y="1502307"/>
            <a:ext cx="4371033" cy="1542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F625A-A2C1-701D-44C8-84E64B86B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49" y="3392754"/>
            <a:ext cx="4139921" cy="2470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96419-AD39-9D5B-9488-D9BC54AF9CD8}"/>
              </a:ext>
            </a:extLst>
          </p:cNvPr>
          <p:cNvSpPr txBox="1"/>
          <p:nvPr/>
        </p:nvSpPr>
        <p:spPr>
          <a:xfrm>
            <a:off x="7114231" y="854110"/>
            <a:ext cx="459209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2. CONSUMPTION TABLE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9866DB-09D7-10E6-878B-96E591283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2307"/>
            <a:ext cx="5243014" cy="18823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B4D13F-F11C-5225-7229-240A6B35A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404" y="3683599"/>
            <a:ext cx="5458610" cy="2007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35907E-7C28-2265-6299-6E743D1C1CA7}"/>
              </a:ext>
            </a:extLst>
          </p:cNvPr>
          <p:cNvSpPr txBox="1"/>
          <p:nvPr/>
        </p:nvSpPr>
        <p:spPr>
          <a:xfrm>
            <a:off x="4393248" y="304506"/>
            <a:ext cx="2974312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Libre Baskerville"/>
              </a:rPr>
              <a:t> TABLE CREATION</a:t>
            </a:r>
            <a:endParaRPr lang="en-IN" sz="2000" b="1" dirty="0">
              <a:solidFill>
                <a:schemeClr val="bg1"/>
              </a:solidFill>
              <a:latin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341853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7ADEC-6EA1-7897-72AB-DF592405A668}"/>
              </a:ext>
            </a:extLst>
          </p:cNvPr>
          <p:cNvSpPr txBox="1"/>
          <p:nvPr/>
        </p:nvSpPr>
        <p:spPr>
          <a:xfrm>
            <a:off x="643094" y="633046"/>
            <a:ext cx="402939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3. PRODUCTION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35801-D6DB-7E19-1173-DA1D6EC48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0" y="1276146"/>
            <a:ext cx="5442056" cy="18991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16DFC6-F071-2A60-2E8D-36CE82ECB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71" y="3682721"/>
            <a:ext cx="5507635" cy="23161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B813A-E7C6-75A3-83A9-C7F8229B6B19}"/>
              </a:ext>
            </a:extLst>
          </p:cNvPr>
          <p:cNvSpPr txBox="1"/>
          <p:nvPr/>
        </p:nvSpPr>
        <p:spPr>
          <a:xfrm>
            <a:off x="7144378" y="633045"/>
            <a:ext cx="389876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4. EMISSION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0010B0-4DBA-FEC6-8AFC-C2F72C6A5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860" y="1276146"/>
            <a:ext cx="5197290" cy="20956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A0D893-D50A-282A-42F7-1AD0727F4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871" y="3682722"/>
            <a:ext cx="5227773" cy="23161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096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E1061-B0C4-F349-676D-DEE4ABA28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57" y="1474204"/>
            <a:ext cx="5220152" cy="16232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641008-E0B1-007E-9DA2-71AE89CE1540}"/>
              </a:ext>
            </a:extLst>
          </p:cNvPr>
          <p:cNvSpPr txBox="1"/>
          <p:nvPr/>
        </p:nvSpPr>
        <p:spPr>
          <a:xfrm>
            <a:off x="1004835" y="673240"/>
            <a:ext cx="3436536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5. GDP_PPP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82460-4B57-42C3-08AA-CE373A3BF2D1}"/>
              </a:ext>
            </a:extLst>
          </p:cNvPr>
          <p:cNvSpPr txBox="1"/>
          <p:nvPr/>
        </p:nvSpPr>
        <p:spPr>
          <a:xfrm>
            <a:off x="7275005" y="673239"/>
            <a:ext cx="436662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6. POPULATION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2EB52-EFF8-5EA2-53DB-9CAF4DA2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65" y="1489446"/>
            <a:ext cx="5189670" cy="16079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33F5804-1FB6-CF0A-46C6-CE54EE0B9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3" y="3394273"/>
            <a:ext cx="4201065" cy="3017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110276-0861-A6F2-9969-4F516A981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380" y="3394273"/>
            <a:ext cx="4201065" cy="301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4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01C28-1103-F999-B5F2-8943185EAB22}"/>
              </a:ext>
            </a:extLst>
          </p:cNvPr>
          <p:cNvSpPr txBox="1"/>
          <p:nvPr/>
        </p:nvSpPr>
        <p:spPr>
          <a:xfrm>
            <a:off x="422030" y="354523"/>
            <a:ext cx="1134793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1. What Is The Total Emission Per Country For The Most Recent Year Available?</a:t>
            </a:r>
            <a:endParaRPr lang="en-IN" sz="20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FA6FE-00EF-5EBA-A38D-0A878D601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4" y="959888"/>
            <a:ext cx="7071358" cy="146280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30FB83-39A8-123F-D6DB-D873E6AF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19" y="2611699"/>
            <a:ext cx="3677348" cy="206270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B990375-6F9C-0D3A-8D03-C956EA0B8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705" y="3916725"/>
            <a:ext cx="76151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China Has The Highest Total Emissions , Followed By The United States  And India.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Other Major Contributors Include Russia, Japan, And Indonesia.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Middle Eastern Countries Like Iran  And Saudi Arabia Also Contribute Significantly.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South Korea Is Also Among The Top Emitters.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Overall, Emissions Are Heavily Dominated By A Few Large Countries, Especially China, Which Is Far Ahead Of Others.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</p:txBody>
      </p:sp>
      <p:pic>
        <p:nvPicPr>
          <p:cNvPr id="3" name="Picture 2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0E45DD68-2E25-87ED-56B8-23D7E5FCE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963613"/>
            <a:ext cx="41052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8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0C957-9D9E-C6FC-60B4-6CA8C6027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85" y="907556"/>
            <a:ext cx="5737356" cy="1461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9F2182-3821-74D5-427B-86BB77DB02F7}"/>
              </a:ext>
            </a:extLst>
          </p:cNvPr>
          <p:cNvSpPr txBox="1"/>
          <p:nvPr/>
        </p:nvSpPr>
        <p:spPr>
          <a:xfrm>
            <a:off x="581373" y="301774"/>
            <a:ext cx="955598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Libre Baskerville"/>
              </a:rPr>
              <a:t>2. What Are The Top 5 Countries By GDP In The Most Recent Year?</a:t>
            </a:r>
            <a:endParaRPr lang="en-IN" sz="2000" b="1" dirty="0">
              <a:solidFill>
                <a:schemeClr val="accent1"/>
              </a:solidFill>
              <a:latin typeface="Libre Baskervill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609B2-BB24-A282-AF3D-E4D534838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1" y="2717771"/>
            <a:ext cx="2860611" cy="2147143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F4D4AD9-CCDE-61E3-8F13-D728856B9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835" y="3671811"/>
            <a:ext cx="796474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The SQL Query Extracts The Top 5 Countries By GDP (PPP) For The Most Recent Year In The Dataset.</a:t>
            </a:r>
            <a:endParaRPr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China Has The Highest GDP, Followed By The United States.</a:t>
            </a:r>
            <a:endParaRPr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India Ranks Third With, Showing Its Rapid Economic Growth.</a:t>
            </a:r>
            <a:endParaRPr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Japan And Germany Complete The Top Five.</a:t>
            </a:r>
            <a:endParaRPr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The Data Highlights That China And The Us Dominate Global </a:t>
            </a:r>
            <a:r>
              <a:rPr kumimoji="0" lang="en-US" altLang="en-US" sz="190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Gdp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ibre Baskerville"/>
              </a:rPr>
              <a:t>, While India Is Emerging As A Major Economic Power.</a:t>
            </a:r>
            <a:endParaRPr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ibre Baskerville"/>
            </a:endParaRPr>
          </a:p>
        </p:txBody>
      </p:sp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3631B966-8988-E7C1-8023-24AAB8A52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698500"/>
            <a:ext cx="5372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5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D5226-0A7C-DE0A-361F-1DD24E663398}"/>
              </a:ext>
            </a:extLst>
          </p:cNvPr>
          <p:cNvSpPr txBox="1"/>
          <p:nvPr/>
        </p:nvSpPr>
        <p:spPr>
          <a:xfrm>
            <a:off x="612950" y="303771"/>
            <a:ext cx="104301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3. Which Energy Types Contribute Most To Emissions Across All Countries?</a:t>
            </a:r>
            <a:endParaRPr lang="en-IN" sz="20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EADCD-757E-7375-6D83-53385CCF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87" y="886795"/>
            <a:ext cx="6557168" cy="1314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0B0E9-467D-8B69-BEFB-1C1D4309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887" y="749808"/>
            <a:ext cx="3953556" cy="1782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13059-BF14-8365-182C-C5F5FF4EF7CD}"/>
              </a:ext>
            </a:extLst>
          </p:cNvPr>
          <p:cNvSpPr txBox="1"/>
          <p:nvPr/>
        </p:nvSpPr>
        <p:spPr>
          <a:xfrm>
            <a:off x="4802972" y="2709376"/>
            <a:ext cx="7252397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  <a:latin typeface="Libre Baskerville"/>
              </a:rPr>
              <a:t>The energy types that contribute the most to emissions across all countries are primarily fossil fuels.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  <a:latin typeface="Libre Baskerville"/>
              </a:rPr>
              <a:t>CO2 emissions are the highest overall with 142,723 MtCO2.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  <a:latin typeface="Libre Baskerville"/>
              </a:rPr>
              <a:t>Among specific energy sources, Coal and coke contribute the most with 63a,945 MtCO2, followed by Petroleum and other liquids at 47,297 MtCO2, and Consumed natural gas at 31,469 MtCO2.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  <a:latin typeface="Libre Baskerville"/>
              </a:rPr>
              <a:t>This indicates that coal is the largest single contributor among fuels, while petroleum and natural gas also play significant roles.</a:t>
            </a:r>
          </a:p>
        </p:txBody>
      </p:sp>
      <p:pic>
        <p:nvPicPr>
          <p:cNvPr id="3" name="Picture 2" descr="A graph of energy type&#10;&#10;AI-generated content may be incorrect.">
            <a:extLst>
              <a:ext uri="{FF2B5EF4-FFF2-40B4-BE49-F238E27FC236}">
                <a16:creationId xmlns:a16="http://schemas.microsoft.com/office/drawing/2014/main" id="{517F95E2-ECB1-126B-490D-7E8D1C2DF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2527300"/>
            <a:ext cx="4483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7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28C9-3810-C4D9-2C45-D33976A5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EDE384-8388-85A0-E259-4E41B52786AD}"/>
              </a:ext>
            </a:extLst>
          </p:cNvPr>
          <p:cNvSpPr txBox="1"/>
          <p:nvPr/>
        </p:nvSpPr>
        <p:spPr>
          <a:xfrm>
            <a:off x="639358" y="294909"/>
            <a:ext cx="809897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4. How Have Global Emissions Changed Year Over Year?</a:t>
            </a:r>
            <a:endParaRPr lang="en-IN" sz="20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2CC6B-3276-09B6-6F8D-C512D29AF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6" y="1195831"/>
            <a:ext cx="5710028" cy="1436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AD2569-3D62-EB58-276A-EB9869FE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55" y="3234817"/>
            <a:ext cx="2609392" cy="20860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47DABA-7893-4070-0AF9-37F6C7E8B875}"/>
              </a:ext>
            </a:extLst>
          </p:cNvPr>
          <p:cNvSpPr txBox="1"/>
          <p:nvPr/>
        </p:nvSpPr>
        <p:spPr>
          <a:xfrm>
            <a:off x="4423748" y="3240992"/>
            <a:ext cx="7175982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Consistent Increase in Total Emissions: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The most prominent observation is that the "</a:t>
            </a:r>
            <a:r>
              <a:rPr lang="en-US" sz="1600" b="0" i="0" err="1">
                <a:solidFill>
                  <a:schemeClr val="bg2"/>
                </a:solidFill>
                <a:effectLst/>
                <a:latin typeface="Libre Baskerville"/>
              </a:rPr>
              <a:t>Total_emission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" has consistently increased year over year from 2020 to 2023.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Emission Values:</a:t>
            </a:r>
            <a:endParaRPr lang="en-US" sz="1600" b="0" i="0" dirty="0">
              <a:solidFill>
                <a:schemeClr val="bg2"/>
              </a:solidFill>
              <a:effectLst/>
              <a:latin typeface="Libre Baskerville"/>
            </a:endParaRPr>
          </a:p>
          <a:p>
            <a:pPr marL="742950" lvl="1" indent="-285750" algn="l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In 2020, the total emission was 67852.</a:t>
            </a:r>
          </a:p>
          <a:p>
            <a:pPr marL="742950" lvl="1" indent="-285750" algn="l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In 2021, it increased to 70976.</a:t>
            </a:r>
          </a:p>
          <a:p>
            <a:pPr marL="742950" lvl="1" indent="-285750" algn="l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In 2022, the emissions further rose to 72445.</a:t>
            </a:r>
          </a:p>
          <a:p>
            <a:pPr marL="742950" lvl="1" indent="-285750" algn="l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By 2023, the total emission reached 74161.</a:t>
            </a:r>
          </a:p>
          <a:p>
            <a:pPr marL="285750" indent="-285750"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Growth Trend: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The data clearly shows an upward trend in global emissions within this four-year period, indicating a continuous rise in emissions post-2020</a:t>
            </a:r>
          </a:p>
        </p:txBody>
      </p:sp>
      <p:pic>
        <p:nvPicPr>
          <p:cNvPr id="7" name="Picture 6" descr="A graph showing the growth of global emissions&#10;&#10;AI-generated content may be incorrect.">
            <a:extLst>
              <a:ext uri="{FF2B5EF4-FFF2-40B4-BE49-F238E27FC236}">
                <a16:creationId xmlns:a16="http://schemas.microsoft.com/office/drawing/2014/main" id="{566A0C7C-71CC-F744-CC54-4C223122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698500"/>
            <a:ext cx="51943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8E2C-4853-4D56-B454-F60E7897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087B6-990A-6E6C-CB6A-007CF14BED1A}"/>
              </a:ext>
            </a:extLst>
          </p:cNvPr>
          <p:cNvSpPr txBox="1"/>
          <p:nvPr/>
        </p:nvSpPr>
        <p:spPr>
          <a:xfrm>
            <a:off x="934496" y="522514"/>
            <a:ext cx="992777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5. What Is The Trend In GDP For Each Country Over The Given Years?</a:t>
            </a:r>
            <a:endParaRPr lang="en-IN" sz="2000" b="1" dirty="0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9C03B-4452-D5BF-4442-72DB3B031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96" y="1199408"/>
            <a:ext cx="3980683" cy="1101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423CD7-D52E-E0A4-B048-1060D009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95" y="2503830"/>
            <a:ext cx="3155183" cy="3258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F7FAE0-FD1D-CA7B-E430-6295008CEF6D}"/>
              </a:ext>
            </a:extLst>
          </p:cNvPr>
          <p:cNvSpPr txBox="1"/>
          <p:nvPr/>
        </p:nvSpPr>
        <p:spPr>
          <a:xfrm>
            <a:off x="4533900" y="4406900"/>
            <a:ext cx="69723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Libre Baskerville"/>
              </a:rPr>
              <a:t>Afghanistan's GDP exhibits a downward trend from 2020 to 2024, declining from 83.21 to 57.83.</a:t>
            </a: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Libre Baskerville"/>
              </a:rPr>
              <a:t>Albania shows steady upward growth in GDP, increasing from 40.05 in 2020 to 45.20 in 2023.</a:t>
            </a:r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Libre Baskerville"/>
              </a:rPr>
              <a:t>Algeria's GDP values (for two reported years) are substantially higher than those of Afghanistan and Albania, indicating a much larger economy, with both values exceeding 500.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37A96-599B-153D-4B3D-EE9F60A5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927100"/>
            <a:ext cx="58547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4730-73C6-F388-9580-B68C83E6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98D341-285B-F3F7-F9AD-DC1843FC1D77}"/>
              </a:ext>
            </a:extLst>
          </p:cNvPr>
          <p:cNvSpPr txBox="1"/>
          <p:nvPr/>
        </p:nvSpPr>
        <p:spPr>
          <a:xfrm>
            <a:off x="653143" y="391885"/>
            <a:ext cx="11304395" cy="7078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6. Has Energy Consumption Increased Or Decreased Over The Years For Major Economies?</a:t>
            </a:r>
            <a:endParaRPr lang="en-IN" sz="2000" b="1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8462F-8A62-428F-F285-A69C67B79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1247224"/>
            <a:ext cx="5641856" cy="1521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3F5179-54DE-AFDC-4F14-6E6F7727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43" y="3180972"/>
            <a:ext cx="3890108" cy="1881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85C2BC-77D2-865A-9312-04FB52DD60D5}"/>
              </a:ext>
            </a:extLst>
          </p:cNvPr>
          <p:cNvSpPr txBox="1"/>
          <p:nvPr/>
        </p:nvSpPr>
        <p:spPr>
          <a:xfrm>
            <a:off x="4755714" y="3558484"/>
            <a:ext cx="6985000" cy="30162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China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had the highest recorded energy consumption among the listed major economies in 2020, with a total of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156 units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.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The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United States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followed as the second-largest consumer, with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106 units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in the same year .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Russia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and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India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showed comparable consumption levels, with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33 and 32 units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, respectively.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Japan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consumed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18 units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, while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Germany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and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South Korea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had the lowest consumption among this group, both at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13 units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.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All data points presented are for the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Libre Baskerville"/>
              </a:rPr>
              <a:t>year 2020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Libre Baskerville"/>
              </a:rPr>
              <a:t> </a:t>
            </a:r>
          </a:p>
        </p:txBody>
      </p:sp>
      <p:pic>
        <p:nvPicPr>
          <p:cNvPr id="3" name="Picture 2" descr="A graph of energy consumption&#10;&#10;AI-generated content may be incorrect.">
            <a:extLst>
              <a:ext uri="{FF2B5EF4-FFF2-40B4-BE49-F238E27FC236}">
                <a16:creationId xmlns:a16="http://schemas.microsoft.com/office/drawing/2014/main" id="{F982E198-71D9-E387-99D2-FDEB07765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749300"/>
            <a:ext cx="58801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2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7D555-51EF-D5D9-3958-5AF0936FAAFA}"/>
              </a:ext>
            </a:extLst>
          </p:cNvPr>
          <p:cNvSpPr txBox="1"/>
          <p:nvPr/>
        </p:nvSpPr>
        <p:spPr>
          <a:xfrm>
            <a:off x="793819" y="331596"/>
            <a:ext cx="11381772" cy="4001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 7. What Is The Average Yearly Change In Emissions Per Capita For Each Country?</a:t>
            </a:r>
            <a:endParaRPr lang="en-IN" sz="2000" b="1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499D07-AEFB-B070-4009-4F1B5CC6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0" y="978957"/>
            <a:ext cx="6105536" cy="1467881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FE2915-271F-B1D9-155D-58FBB8663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9" y="2769057"/>
            <a:ext cx="4398480" cy="2209957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AA494-B9A0-EE73-0CBD-6E1041EDF681}"/>
              </a:ext>
            </a:extLst>
          </p:cNvPr>
          <p:cNvSpPr txBox="1"/>
          <p:nvPr/>
        </p:nvSpPr>
        <p:spPr>
          <a:xfrm>
            <a:off x="5005096" y="3430143"/>
            <a:ext cx="6769100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600" dirty="0">
                <a:solidFill>
                  <a:schemeClr val="bg2"/>
                </a:solidFill>
                <a:latin typeface="Libre Baskerville"/>
              </a:rPr>
              <a:t>The SQL query calculates the </a:t>
            </a:r>
            <a:r>
              <a:rPr lang="en-US" sz="1600" b="1" dirty="0">
                <a:solidFill>
                  <a:schemeClr val="bg2"/>
                </a:solidFill>
                <a:latin typeface="Libre Baskerville"/>
              </a:rPr>
              <a:t>average yearly per capita emission</a:t>
            </a:r>
            <a:r>
              <a:rPr lang="en-US" sz="1600" dirty="0">
                <a:solidFill>
                  <a:schemeClr val="bg2"/>
                </a:solidFill>
                <a:latin typeface="Libre Baskerville"/>
              </a:rPr>
              <a:t> for each country and year using the </a:t>
            </a:r>
            <a:r>
              <a:rPr lang="en-US" sz="1600" dirty="0">
                <a:solidFill>
                  <a:schemeClr val="bg2"/>
                </a:solidFill>
                <a:latin typeface="Libre Baskerville"/>
                <a:cs typeface="Courier New"/>
              </a:rPr>
              <a:t>AVG(</a:t>
            </a:r>
            <a:r>
              <a:rPr lang="en-US" sz="1600" err="1">
                <a:solidFill>
                  <a:schemeClr val="bg2"/>
                </a:solidFill>
                <a:latin typeface="Libre Baskerville"/>
                <a:cs typeface="Courier New"/>
              </a:rPr>
              <a:t>per_capita_emission</a:t>
            </a:r>
            <a:r>
              <a:rPr lang="en-US" sz="1600" dirty="0">
                <a:solidFill>
                  <a:schemeClr val="bg2"/>
                </a:solidFill>
                <a:latin typeface="Libre Baskerville"/>
                <a:cs typeface="Courier New"/>
              </a:rPr>
              <a:t>)</a:t>
            </a:r>
            <a:r>
              <a:rPr lang="en-US" sz="1600" dirty="0">
                <a:solidFill>
                  <a:schemeClr val="bg2"/>
                </a:solidFill>
                <a:latin typeface="Libre Baskerville"/>
              </a:rPr>
              <a:t> function.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600" dirty="0">
                <a:solidFill>
                  <a:schemeClr val="bg2"/>
                </a:solidFill>
                <a:latin typeface="Libre Baskerville"/>
              </a:rPr>
              <a:t>The result table shows data for multiple countries (e.g., American Samoa, Antarctica, Bhutan, Botswana, etc.) for the year </a:t>
            </a:r>
            <a:r>
              <a:rPr lang="en-US" sz="1600" b="1" dirty="0">
                <a:solidFill>
                  <a:schemeClr val="bg2"/>
                </a:solidFill>
                <a:latin typeface="Libre Baskerville"/>
              </a:rPr>
              <a:t>2020</a:t>
            </a:r>
            <a:r>
              <a:rPr lang="en-US" sz="1600" dirty="0">
                <a:solidFill>
                  <a:schemeClr val="bg2"/>
                </a:solidFill>
                <a:latin typeface="Libre Baskerville"/>
              </a:rPr>
              <a:t>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600" dirty="0">
                <a:solidFill>
                  <a:schemeClr val="bg2"/>
                </a:solidFill>
                <a:latin typeface="Libre Baskerville"/>
              </a:rPr>
              <a:t>Interestingly, the </a:t>
            </a:r>
            <a:r>
              <a:rPr lang="en-US" sz="1600" b="1" dirty="0">
                <a:solidFill>
                  <a:schemeClr val="bg2"/>
                </a:solidFill>
                <a:latin typeface="Libre Baskerville"/>
              </a:rPr>
              <a:t>average per capita emission value (0.007126)</a:t>
            </a:r>
            <a:r>
              <a:rPr lang="en-US" sz="1600" dirty="0">
                <a:solidFill>
                  <a:schemeClr val="bg2"/>
                </a:solidFill>
                <a:latin typeface="Libre Baskerville"/>
              </a:rPr>
              <a:t> is the same for all listed countries in the sample output.</a:t>
            </a:r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2"/>
                </a:solidFill>
                <a:latin typeface="Libre Baskerville"/>
              </a:rPr>
              <a:t> Overall Observation: The average yearly change in per capita emissions is shown as nearly identical (0.007126) across multiple countries in 2020, indicating possible aggregation or uniform trends in the dataset.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2720A-D3F3-531D-9357-34A88BE97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736600"/>
            <a:ext cx="50673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12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3FE92-C0A6-3935-E5D4-932C59D9B04E}"/>
              </a:ext>
            </a:extLst>
          </p:cNvPr>
          <p:cNvSpPr txBox="1"/>
          <p:nvPr/>
        </p:nvSpPr>
        <p:spPr>
          <a:xfrm>
            <a:off x="650737" y="205607"/>
            <a:ext cx="8063665" cy="4001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latin typeface="Libre Baskerville"/>
              </a:rPr>
              <a:t> 8. What Is The Global Share (%) Of Emissions By Country?</a:t>
            </a:r>
            <a:endParaRPr lang="en-IN" sz="2000" b="1">
              <a:solidFill>
                <a:schemeClr val="accent1">
                  <a:lumMod val="76000"/>
                </a:schemeClr>
              </a:solidFill>
              <a:latin typeface="Libre Baskervill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219E8-0BDD-63C6-20D7-110660A9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83" y="2436253"/>
            <a:ext cx="3587260" cy="2692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3515FD-DE0A-F43C-E1E2-972FD1E34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84" y="744549"/>
            <a:ext cx="7104929" cy="1482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7961FC-9FBA-E1DB-2D0D-DD91871097D1}"/>
              </a:ext>
            </a:extLst>
          </p:cNvPr>
          <p:cNvSpPr txBox="1"/>
          <p:nvPr/>
        </p:nvSpPr>
        <p:spPr>
          <a:xfrm>
            <a:off x="4244137" y="3554366"/>
            <a:ext cx="7449542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>
                <a:solidFill>
                  <a:schemeClr val="bg2"/>
                </a:solidFill>
                <a:latin typeface="Libre Baskerville"/>
              </a:rPr>
              <a:t>The results show that China (32.35%) is the largest contributor, followed by the United States (13.47%) and India (7.08%).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solidFill>
                  <a:schemeClr val="bg2"/>
                </a:solidFill>
                <a:latin typeface="Libre Baskerville"/>
              </a:rPr>
              <a:t>Together, these top three countries account for over 50% of global emissions.</a:t>
            </a:r>
          </a:p>
          <a:p>
            <a:pPr marL="285750" indent="-285750">
              <a:buFont typeface="Wingdings"/>
              <a:buChar char="Ø"/>
            </a:pPr>
            <a:r>
              <a:rPr lang="en-US" dirty="0">
                <a:solidFill>
                  <a:schemeClr val="bg2"/>
                </a:solidFill>
                <a:latin typeface="Libre Baskerville"/>
              </a:rPr>
              <a:t>Other significant contributors include Russia (5.07%), Japan (2.85%), and Iran (2.09%).</a:t>
            </a:r>
          </a:p>
          <a:p>
            <a:pPr marL="285750" indent="-285750">
              <a:buFont typeface="Wingdings"/>
              <a:buChar char="Ø"/>
            </a:pPr>
            <a:r>
              <a:rPr lang="en-US" dirty="0">
                <a:solidFill>
                  <a:schemeClr val="bg2"/>
                </a:solidFill>
                <a:latin typeface="Libre Baskerville"/>
              </a:rPr>
              <a:t>Overall observation: Global emissions are highly skewed, with a few countries (China, US, India) responsible for the majority of emissions, while the rest contribute relatively small shares</a:t>
            </a: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5A59D58C-401E-A1AD-45EE-800DE4728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0" y="609600"/>
            <a:ext cx="4343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5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6818-8E51-752B-B747-220EC425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E4313-F077-AA6B-0703-A3DB141471DE}"/>
              </a:ext>
            </a:extLst>
          </p:cNvPr>
          <p:cNvSpPr txBox="1"/>
          <p:nvPr/>
        </p:nvSpPr>
        <p:spPr>
          <a:xfrm>
            <a:off x="1165609" y="954593"/>
            <a:ext cx="9294725" cy="51706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2"/>
                </a:solidFill>
                <a:latin typeface="Libre Baskerville"/>
              </a:rPr>
              <a:t>Through This Project, We Successfully Used SQL To Explore Large Datasets And Uncover Valuable Insights About Global Energy Production, GDP, Emissions, And Population Trends.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2"/>
                </a:solidFill>
                <a:latin typeface="Libre Baskerville"/>
              </a:rPr>
              <a:t>We Identified Countries With High Energy Use And Emissions, And Those Making Sustainable Progress.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2"/>
                </a:solidFill>
                <a:latin typeface="Libre Baskerville"/>
              </a:rPr>
              <a:t> The Analysis Showed Clear Links Between Economic Growth And Energy Demand, As Well As The Environmental Trade-offs.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2"/>
                </a:solidFill>
                <a:latin typeface="Libre Baskerville"/>
              </a:rPr>
              <a:t>Some Nations Demonstrated Strong Energy Efficiency, Producing Higher GDP With Lower Emissions.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2"/>
                </a:solidFill>
                <a:latin typeface="Libre Baskerville"/>
              </a:rPr>
              <a:t>This Project Highlights The Importance Of Data-driven Decision-making In Balancing Economic Development And Environmental Responsibility For A More Sustainable Future.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>
              <a:solidFill>
                <a:schemeClr val="bg2"/>
              </a:solidFill>
              <a:latin typeface="Libre Baskerville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D2A76-8DFE-FC23-BA5F-A02DE6A8A28C}"/>
              </a:ext>
            </a:extLst>
          </p:cNvPr>
          <p:cNvSpPr txBox="1"/>
          <p:nvPr/>
        </p:nvSpPr>
        <p:spPr>
          <a:xfrm>
            <a:off x="4129873" y="194152"/>
            <a:ext cx="2830704" cy="4308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solidFill>
                  <a:schemeClr val="accent1"/>
                </a:solidFill>
                <a:latin typeface="Libre Baskerville"/>
              </a:rPr>
              <a:t>CONCLUSION</a:t>
            </a:r>
            <a:endParaRPr lang="en-IN" sz="2200" b="1">
              <a:solidFill>
                <a:schemeClr val="accent1"/>
              </a:solidFill>
              <a:latin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4174313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0B5D7-A8DB-1294-9671-AE40CAC4EE4E}"/>
              </a:ext>
            </a:extLst>
          </p:cNvPr>
          <p:cNvSpPr txBox="1"/>
          <p:nvPr/>
        </p:nvSpPr>
        <p:spPr>
          <a:xfrm>
            <a:off x="1115367" y="3266729"/>
            <a:ext cx="4733471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0" b="1" dirty="0">
                <a:solidFill>
                  <a:schemeClr val="accent3">
                    <a:lumMod val="75000"/>
                  </a:schemeClr>
                </a:solidFill>
                <a:latin typeface="Algerian"/>
              </a:rPr>
              <a:t>Thank          You...</a:t>
            </a:r>
            <a:endParaRPr lang="en-IN" sz="8000" b="1" dirty="0">
              <a:solidFill>
                <a:schemeClr val="accent3">
                  <a:lumMod val="75000"/>
                </a:schemeClr>
              </a:solidFill>
              <a:latin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17</Slides>
  <Notes>4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DylanVTI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revision>223</cp:revision>
  <dcterms:created xsi:type="dcterms:W3CDTF">2021-02-16T05:19:01Z</dcterms:created>
  <dcterms:modified xsi:type="dcterms:W3CDTF">2025-11-20T08:33:19Z</dcterms:modified>
</cp:coreProperties>
</file>